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8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5" Type="http://schemas.openxmlformats.org/officeDocument/2006/relationships/image" Target="../media/image39.png"/><Relationship Id="rId10" Type="http://schemas.openxmlformats.org/officeDocument/2006/relationships/image" Target="../media/image12.png"/><Relationship Id="rId19" Type="http://schemas.openxmlformats.org/officeDocument/2006/relationships/image" Target="../media/image43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576" y="2376221"/>
            <a:ext cx="39624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501" y="4148137"/>
            <a:ext cx="2581275" cy="742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4148137"/>
            <a:ext cx="2581275" cy="742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7921" y="3033712"/>
            <a:ext cx="925615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500"/>
              </a:lnSpc>
              <a:defRPr/>
            </a:pPr>
            <a:r>
              <a:rPr sz="3600" b="1" i="0" u="none" dirty="0">
                <a:solidFill>
                  <a:srgbClr val="FFFFFF"/>
                </a:solidFill>
                <a:latin typeface="Space Grotesk"/>
              </a:rPr>
              <a:t>AI Credit Risk &amp; Loan Assessment System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2148" y="2435752"/>
            <a:ext cx="166687" cy="123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6650" y="4310062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4310062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6662" y="4433887"/>
            <a:ext cx="219075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48150" y="4352925"/>
            <a:ext cx="14573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 SemiBold"/>
              </a:rPr>
              <a:t>PROJECT TEAM 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8150" y="4476750"/>
            <a:ext cx="1457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8BDF8"/>
                </a:solidFill>
                <a:latin typeface="Space Grotesk"/>
              </a:rPr>
              <a:t>Nimalan 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6537" y="4433887"/>
            <a:ext cx="219075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58025" y="4352925"/>
            <a:ext cx="14573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4A3B8"/>
                </a:solidFill>
                <a:latin typeface="Plus Jakarta Sans SemiBold"/>
              </a:rPr>
              <a:t>PROJECT TEAM MEMBER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8025" y="4476750"/>
            <a:ext cx="1457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8BDF8"/>
                </a:solidFill>
                <a:latin typeface="Space Grotesk"/>
              </a:rPr>
              <a:t>Nitin Aakash R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028825"/>
            <a:ext cx="5419725" cy="3714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330053"/>
            <a:ext cx="2633662" cy="14799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937" y="2330053"/>
            <a:ext cx="2633662" cy="147994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962400"/>
            <a:ext cx="2633662" cy="147994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9937" y="3962400"/>
            <a:ext cx="2633662" cy="147994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2120" y="571500"/>
            <a:ext cx="1606004" cy="257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5325" y="428625"/>
            <a:ext cx="4180522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FFFFF"/>
                </a:solidFill>
                <a:latin typeface="Space Grotesk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2911078"/>
            <a:ext cx="2271712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Traditional FICO models fail to evaluate complex non-linear correlations across modern digital financial footprints.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0912" y="2911078"/>
            <a:ext cx="2271712" cy="717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Rejects "thin-file" applicants who lack conventional credit history despite possessing strong debt-repayment capacity.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4543425"/>
            <a:ext cx="2271712" cy="717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Manual underwriting creates multi-day processing bottlenecks, driving up operational overhead and loan rejection friction.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0912" y="4543425"/>
            <a:ext cx="2271712" cy="7179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Legacy rule scorecards lack explainability, introducing subjective human bias and regulatory compliance hurdles.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2511028"/>
            <a:ext cx="323850" cy="3238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23950" y="2577703"/>
            <a:ext cx="1490186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2" b="1" i="0" u="none">
                <a:solidFill>
                  <a:srgbClr val="F8FAFC"/>
                </a:solidFill>
                <a:latin typeface="Space Grotesk"/>
              </a:rPr>
              <a:t>Rigid Linear Scoring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0912" y="2511028"/>
            <a:ext cx="323850" cy="3238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10012" y="2577703"/>
            <a:ext cx="1430178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2" b="1" i="0" u="none">
                <a:solidFill>
                  <a:srgbClr val="F8FAFC"/>
                </a:solidFill>
                <a:latin typeface="Space Grotesk"/>
              </a:rPr>
              <a:t>Financial Exclusion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4143375"/>
            <a:ext cx="323850" cy="3238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23950" y="4210050"/>
            <a:ext cx="990123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2" b="1" i="0" u="none">
                <a:solidFill>
                  <a:srgbClr val="F8FAFC"/>
                </a:solidFill>
                <a:latin typeface="Space Grotesk"/>
              </a:rPr>
              <a:t>High Latency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0912" y="4143375"/>
            <a:ext cx="323850" cy="3238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910012" y="4210050"/>
            <a:ext cx="1070133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62" b="1" i="0" u="none">
                <a:solidFill>
                  <a:srgbClr val="F8FAFC"/>
                </a:solidFill>
                <a:latin typeface="Space Grotesk"/>
              </a:rPr>
              <a:t>Opacity &amp; Bias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62350" y="2601515"/>
            <a:ext cx="18097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" y="4233862"/>
            <a:ext cx="14287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62350" y="4233862"/>
            <a:ext cx="180975" cy="1428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C6C550F-2234-2157-953E-3BABF87842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2028825"/>
            <a:ext cx="5419725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E9AFDDF8-0D61-9914-BA0D-69E9592EBDF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700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43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747962"/>
            <a:ext cx="5438775" cy="2276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2747962"/>
            <a:ext cx="5438775" cy="2276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2120" y="571500"/>
            <a:ext cx="1606004" cy="2571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5325" y="428625"/>
            <a:ext cx="6420802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FFFFF"/>
                </a:solidFill>
                <a:latin typeface="Space Grotesk"/>
              </a:rPr>
              <a:t>Existing vs. Proposed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2986087"/>
            <a:ext cx="1500187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F87171"/>
                </a:solidFill>
                <a:latin typeface="Space Grotesk"/>
              </a:rPr>
              <a:t>Existing System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3005137"/>
            <a:ext cx="1038225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0100" y="3519487"/>
            <a:ext cx="488632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0" i="0" u="none">
                <a:solidFill>
                  <a:srgbClr val="94A3B8"/>
                </a:solidFill>
                <a:latin typeface="Plus Jakarta Sans SemiBold"/>
              </a:rPr>
              <a:t>Data Ingestion</a:t>
            </a:r>
            <a:r>
              <a:rPr sz="1012" b="0" i="0" u="none">
                <a:solidFill>
                  <a:srgbClr val="000000"/>
                </a:solidFill>
                <a:latin typeface="Plus Jakarta Sans"/>
              </a:rPr>
              <a:t> </a:t>
            </a:r>
            <a:r>
              <a:rPr sz="1012" b="1" i="0" u="none">
                <a:solidFill>
                  <a:srgbClr val="F1F5F9"/>
                </a:solidFill>
                <a:latin typeface="Plus Jakarta Sans"/>
              </a:rPr>
              <a:t>Static Bureau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795712"/>
            <a:ext cx="488632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0" i="0" u="none">
                <a:solidFill>
                  <a:srgbClr val="94A3B8"/>
                </a:solidFill>
                <a:latin typeface="Plus Jakarta Sans SemiBold"/>
              </a:rPr>
              <a:t>Algorithm</a:t>
            </a:r>
            <a:r>
              <a:rPr sz="1012" b="0" i="0" u="none">
                <a:solidFill>
                  <a:srgbClr val="000000"/>
                </a:solidFill>
                <a:latin typeface="Plus Jakarta Sans"/>
              </a:rPr>
              <a:t> </a:t>
            </a:r>
            <a:r>
              <a:rPr sz="1012" b="1" i="0" u="none">
                <a:solidFill>
                  <a:srgbClr val="F1F5F9"/>
                </a:solidFill>
                <a:latin typeface="Plus Jakarta Sans"/>
              </a:rPr>
              <a:t>Logistic Regression /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071937"/>
            <a:ext cx="488632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0" i="0" u="none">
                <a:solidFill>
                  <a:srgbClr val="94A3B8"/>
                </a:solidFill>
                <a:latin typeface="Plus Jakarta Sans SemiBold"/>
              </a:rPr>
              <a:t>Decision Latency</a:t>
            </a:r>
            <a:r>
              <a:rPr sz="1012" b="0" i="0" u="none">
                <a:solidFill>
                  <a:srgbClr val="000000"/>
                </a:solidFill>
                <a:latin typeface="Plus Jakarta Sans"/>
              </a:rPr>
              <a:t> </a:t>
            </a:r>
            <a:r>
              <a:rPr sz="1012" b="1" i="0" u="none">
                <a:solidFill>
                  <a:srgbClr val="F1F5F9"/>
                </a:solidFill>
                <a:latin typeface="Plus Jakarta Sans"/>
              </a:rPr>
              <a:t>3 - 7 Business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348162"/>
            <a:ext cx="488632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0" i="0" u="none">
                <a:solidFill>
                  <a:srgbClr val="94A3B8"/>
                </a:solidFill>
                <a:latin typeface="Plus Jakarta Sans SemiBold"/>
              </a:rPr>
              <a:t>Explainability</a:t>
            </a:r>
            <a:r>
              <a:rPr sz="1012" b="0" i="0" u="none">
                <a:solidFill>
                  <a:srgbClr val="000000"/>
                </a:solidFill>
                <a:latin typeface="Plus Jakarta Sans"/>
              </a:rPr>
              <a:t> </a:t>
            </a:r>
            <a:r>
              <a:rPr sz="1012" b="1" i="0" u="none">
                <a:solidFill>
                  <a:srgbClr val="F1F5F9"/>
                </a:solidFill>
                <a:latin typeface="Plus Jakarta Sans"/>
              </a:rPr>
              <a:t>Manual / Low Transparency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624387"/>
            <a:ext cx="488632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0" i="0" u="none">
                <a:solidFill>
                  <a:srgbClr val="94A3B8"/>
                </a:solidFill>
                <a:latin typeface="Plus Jakarta Sans SemiBold"/>
              </a:rPr>
              <a:t>Borrower Coverage</a:t>
            </a:r>
            <a:r>
              <a:rPr sz="1012" b="0" i="0" u="none">
                <a:solidFill>
                  <a:srgbClr val="000000"/>
                </a:solidFill>
                <a:latin typeface="Plus Jakarta Sans"/>
              </a:rPr>
              <a:t> </a:t>
            </a:r>
            <a:r>
              <a:rPr sz="1012" b="1" i="0" u="none">
                <a:solidFill>
                  <a:srgbClr val="F1F5F9"/>
                </a:solidFill>
                <a:latin typeface="Plus Jakarta Sans"/>
              </a:rPr>
              <a:t>Restricted to Bureau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1800" y="2986087"/>
            <a:ext cx="185023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34D399"/>
                </a:solidFill>
                <a:latin typeface="Space Grotesk"/>
              </a:rPr>
              <a:t>Proposed AI System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0" y="3005137"/>
            <a:ext cx="876300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05575" y="3519487"/>
            <a:ext cx="488632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0" i="0" u="none">
                <a:solidFill>
                  <a:srgbClr val="94A3B8"/>
                </a:solidFill>
                <a:latin typeface="Plus Jakarta Sans SemiBold"/>
              </a:rPr>
              <a:t>Data Ingestion</a:t>
            </a:r>
            <a:r>
              <a:rPr sz="1012" b="0" i="0" u="none">
                <a:solidFill>
                  <a:srgbClr val="000000"/>
                </a:solidFill>
                <a:latin typeface="Plus Jakarta Sans"/>
              </a:rPr>
              <a:t> </a:t>
            </a:r>
            <a:r>
              <a:rPr sz="1012" b="1" i="0" u="none">
                <a:solidFill>
                  <a:srgbClr val="F1F5F9"/>
                </a:solidFill>
                <a:latin typeface="Plus Jakarta Sans"/>
              </a:rPr>
              <a:t>Multi-Source Alt-Data Streams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575" y="3795712"/>
            <a:ext cx="488632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0" i="0" u="none">
                <a:solidFill>
                  <a:srgbClr val="94A3B8"/>
                </a:solidFill>
                <a:latin typeface="Plus Jakarta Sans SemiBold"/>
              </a:rPr>
              <a:t>Algorithm</a:t>
            </a:r>
            <a:r>
              <a:rPr sz="1012" b="0" i="0" u="none">
                <a:solidFill>
                  <a:srgbClr val="000000"/>
                </a:solidFill>
                <a:latin typeface="Plus Jakarta Sans"/>
              </a:rPr>
              <a:t> </a:t>
            </a:r>
            <a:r>
              <a:rPr sz="1012" b="1" i="0" u="none">
                <a:solidFill>
                  <a:srgbClr val="F1F5F9"/>
                </a:solidFill>
                <a:latin typeface="Plus Jakarta Sans"/>
              </a:rPr>
              <a:t>XGBoost + TabNet Neural Nets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575" y="4071937"/>
            <a:ext cx="488632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0" i="0" u="none">
                <a:solidFill>
                  <a:srgbClr val="94A3B8"/>
                </a:solidFill>
                <a:latin typeface="Plus Jakarta Sans SemiBold"/>
              </a:rPr>
              <a:t>Decision Latency</a:t>
            </a:r>
            <a:r>
              <a:rPr sz="1012" b="0" i="0" u="none">
                <a:solidFill>
                  <a:srgbClr val="000000"/>
                </a:solidFill>
                <a:latin typeface="Plus Jakarta Sans"/>
              </a:rPr>
              <a:t> </a:t>
            </a:r>
            <a:r>
              <a:rPr sz="1012" b="1" i="0" u="none">
                <a:solidFill>
                  <a:srgbClr val="F1F5F9"/>
                </a:solidFill>
                <a:latin typeface="Plus Jakarta Sans"/>
              </a:rPr>
              <a:t>Real-Time Risk Scoring (&lt; 2s)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5575" y="4348162"/>
            <a:ext cx="488632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0" i="0" u="none">
                <a:solidFill>
                  <a:srgbClr val="94A3B8"/>
                </a:solidFill>
                <a:latin typeface="Plus Jakarta Sans SemiBold"/>
              </a:rPr>
              <a:t>Explainability</a:t>
            </a:r>
            <a:r>
              <a:rPr sz="1012" b="0" i="0" u="none">
                <a:solidFill>
                  <a:srgbClr val="000000"/>
                </a:solidFill>
                <a:latin typeface="Plus Jakarta Sans"/>
              </a:rPr>
              <a:t> </a:t>
            </a:r>
            <a:r>
              <a:rPr sz="1012" b="1" i="0" u="none">
                <a:solidFill>
                  <a:srgbClr val="F1F5F9"/>
                </a:solidFill>
                <a:latin typeface="Plus Jakarta Sans"/>
              </a:rPr>
              <a:t>SHAP &amp; LIME Feature Attribution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575" y="4624387"/>
            <a:ext cx="4886325" cy="161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0" i="0" u="none">
                <a:solidFill>
                  <a:srgbClr val="94A3B8"/>
                </a:solidFill>
                <a:latin typeface="Plus Jakarta Sans SemiBold"/>
              </a:rPr>
              <a:t>Borrower Coverage</a:t>
            </a:r>
            <a:r>
              <a:rPr sz="1012" b="0" i="0" u="none">
                <a:solidFill>
                  <a:srgbClr val="000000"/>
                </a:solidFill>
                <a:latin typeface="Plus Jakarta Sans"/>
              </a:rPr>
              <a:t> </a:t>
            </a:r>
            <a:r>
              <a:rPr sz="1012" b="1" i="0" u="none">
                <a:solidFill>
                  <a:srgbClr val="F1F5F9"/>
                </a:solidFill>
                <a:latin typeface="Plus Jakarta Sans"/>
              </a:rPr>
              <a:t>Inclusive Thin-File Assessment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014662"/>
            <a:ext cx="180975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3014662"/>
            <a:ext cx="18097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612183"/>
            <a:ext cx="11144250" cy="5612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598836"/>
            <a:ext cx="2657475" cy="18228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2598836"/>
            <a:ext cx="2657475" cy="182284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2598836"/>
            <a:ext cx="2657475" cy="182284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650" y="2598836"/>
            <a:ext cx="2657475" cy="182284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825" y="2741711"/>
            <a:ext cx="24765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0" y="2741711"/>
            <a:ext cx="2476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8675" y="2741711"/>
            <a:ext cx="2476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77600" y="2741711"/>
            <a:ext cx="2476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62120" y="571500"/>
            <a:ext cx="1606004" cy="2571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5325" y="428625"/>
            <a:ext cx="448056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75" b="1" i="0" u="none">
                <a:solidFill>
                  <a:srgbClr val="FFFFFF"/>
                </a:solidFill>
                <a:latin typeface="Space Grotesk"/>
              </a:rPr>
              <a:t>System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3213" y="4816524"/>
            <a:ext cx="198313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PROBABILITY FORMULATION: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6848" y="4755058"/>
            <a:ext cx="1931789" cy="27548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850" y="2817911"/>
            <a:ext cx="438150" cy="4381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4850" y="3408461"/>
            <a:ext cx="99012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Space Grotesk"/>
              </a:rPr>
              <a:t>Data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3684686"/>
            <a:ext cx="229552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94A3B8"/>
                </a:solidFill>
                <a:latin typeface="Plus Jakarta Sans"/>
              </a:rPr>
              <a:t>Ingests transaction records &amp; alt-data with automated missing-value imputation and feature scaling.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33775" y="2817911"/>
            <a:ext cx="438150" cy="4381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533775" y="3408461"/>
            <a:ext cx="121015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Space Grotesk"/>
              </a:rPr>
              <a:t>AI Model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3775" y="3684686"/>
            <a:ext cx="229552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94A3B8"/>
                </a:solidFill>
                <a:latin typeface="Plus Jakarta Sans"/>
              </a:rPr>
              <a:t>Trains ensemble models (XGBoost, LightGBM) to compute default risk probabilities.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62700" y="2817911"/>
            <a:ext cx="438150" cy="4381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62700" y="3408461"/>
            <a:ext cx="113014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Space Grotesk"/>
              </a:rPr>
              <a:t>XAI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2700" y="3684686"/>
            <a:ext cx="229552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94A3B8"/>
                </a:solidFill>
                <a:latin typeface="Plus Jakarta Sans"/>
              </a:rPr>
              <a:t>Applies SHAP &amp; LIME to quantify local feature contributions for total decision transparency.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91625" y="2817911"/>
            <a:ext cx="438150" cy="4381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91625" y="3408461"/>
            <a:ext cx="93011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Space Grotesk"/>
              </a:rPr>
              <a:t>Decision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1625" y="3684686"/>
            <a:ext cx="229552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9"/>
              </a:lnSpc>
            </a:pPr>
            <a:r>
              <a:rPr sz="937" b="0" i="0" u="none">
                <a:solidFill>
                  <a:srgbClr val="94A3B8"/>
                </a:solidFill>
                <a:latin typeface="Plus Jakarta Sans"/>
              </a:rPr>
              <a:t>RESTful API serving risk tiers (Low, Medium, High) directly to underwriter dashboards.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8200" y="2941736"/>
            <a:ext cx="17145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57600" y="2941736"/>
            <a:ext cx="190500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86525" y="2941736"/>
            <a:ext cx="19050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91637" y="2941736"/>
            <a:ext cx="238125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233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Plus Jakarta Sans</vt:lpstr>
      <vt:lpstr>Plus Jakarta Sans SemiBold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Darth Raven</dc:creator>
  <cp:keywords/>
  <dc:description>generated using python-pptx</dc:description>
  <cp:lastModifiedBy>Nimalan M</cp:lastModifiedBy>
  <cp:revision>4</cp:revision>
  <dcterms:created xsi:type="dcterms:W3CDTF">2013-01-27T09:14:16Z</dcterms:created>
  <dcterms:modified xsi:type="dcterms:W3CDTF">2026-08-30T19:23:47Z</dcterms:modified>
  <cp:category/>
</cp:coreProperties>
</file>